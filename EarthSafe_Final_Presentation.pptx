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Hazard Label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7AE60"/>
              </a:solidFill>
              <a:effectLst/>
            </c:spPr>
          </c:dPt>
          <c:dPt>
            <c:idx val="1"/>
            <c:bubble3D val="0"/>
            <c:spPr>
              <a:solidFill>
                <a:srgbClr val="F39C12"/>
              </a:solidFill>
              <a:effectLst/>
            </c:spPr>
          </c:dPt>
          <c:dPt>
            <c:idx val="2"/>
            <c:bubble3D val="0"/>
            <c:spPr>
              <a:solidFill>
                <a:srgbClr val="E74C3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Low (M&lt;4.0)</c:v>
                </c:pt>
                <c:pt idx="1">
                  <c:v>Moderate (4.0-6.0)</c:v>
                </c:pt>
                <c:pt idx="2">
                  <c:v>High (M&gt;=6.0)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1033</c:v>
                </c:pt>
                <c:pt idx="1">
                  <c:v>960</c:v>
                </c:pt>
                <c:pt idx="2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3A5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E3A5F"/>
                </a:solidFill>
                <a:latin typeface="Arial"/>
              </a:rPr>
              <a:t>5-Fold CV Results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0.971</c:v>
                </c:pt>
                <c:pt idx="1">
                  <c:v>0.999</c:v>
                </c:pt>
                <c:pt idx="2">
                  <c:v>0.9995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Logistic Regression</c:v>
                  </c:pt>
                  <c:pt idx="1">
                    <c:v>Random Forest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</c:v>
                </c:pt>
                <c:pt idx="1">
                  <c:v>0.944</c:v>
                </c:pt>
                <c:pt idx="2">
                  <c:v>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A1A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2"/>
          <c:min val="0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" y="640080"/>
            <a:ext cx="1005840" cy="10058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658368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🌍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EarthSafe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Earthquake Hazard Prediction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26080" y="3456432"/>
            <a:ext cx="32918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418  ·  UCLA  ·  Spring 2026  ·  Yutong 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45920" y="420624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4592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🔗  App: [link after deploy]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37760" y="420624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4206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⚙️  API: [link after deploy]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 &amp; Motivation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Earthquakes kill thousands yearly, yet hazard information is buried in raw seismic data — not accessible to the public in real time.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bridges that gap with a plain-language hazard indicator anyone can understand.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999232"/>
            <a:ext cx="1389888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3017520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~55,000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0040" y="3493008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M&gt;=2.5 earthquakes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globally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28800" y="2999232"/>
            <a:ext cx="1389888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0" y="3017520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0" y="3493008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collected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(USGS 2023-2024)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37560" y="2999232"/>
            <a:ext cx="1389888" cy="100584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37560" y="3017520"/>
            <a:ext cx="13898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37560" y="3493008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prediction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120640" y="960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Levels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29200" y="1389888"/>
            <a:ext cx="3749040" cy="1005840"/>
          </a:xfrm>
          <a:prstGeom prst="rect">
            <a:avLst/>
          </a:prstGeom>
          <a:solidFill>
            <a:srgbClr val="EAFAF1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0" y="1389888"/>
            <a:ext cx="109728" cy="10058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30368" y="146304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E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30368" y="179222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&lt; 4.0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0368" y="20299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shaking, rarely felt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0" y="2578608"/>
            <a:ext cx="3749040" cy="1005840"/>
          </a:xfrm>
          <a:prstGeom prst="rect">
            <a:avLst/>
          </a:prstGeom>
          <a:solidFill>
            <a:srgbClr val="FEF9E7"/>
          </a:solidFill>
          <a:ln w="12700">
            <a:solidFill>
              <a:srgbClr val="F39C1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0" y="2578608"/>
            <a:ext cx="109728" cy="10058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2651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Moderate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30368" y="298094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4.0–6.0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30368" y="32186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widely, possible minor damage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3767328"/>
            <a:ext cx="3749040" cy="100584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0" y="3767328"/>
            <a:ext cx="109728" cy="10058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38404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230368" y="416966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 ≥ 6.0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0368" y="440740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shaking, significant damage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533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353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35331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USGS API Fetch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library · monthly chunks · M≥2.5 · 2023–2024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24028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24028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48716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 from place string · median-impute gap (103 nulls)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12724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12724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Hazard Labeling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37413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&lt;4.0 · Moderate 4–6 · High ≥6 (rule-based)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4014216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4014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40142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Train/Test Split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261104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80/20 · 5-fold cross-validation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91440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4754880" y="1325880"/>
          <a:ext cx="41148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4754880" y="4389120"/>
            <a:ext cx="4114800" cy="502920"/>
          </a:xfrm>
          <a:prstGeom prst="rect">
            <a:avLst/>
          </a:prstGeom>
          <a:solidFill>
            <a:srgbClr val="FEF9E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441655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High class has only 7 records (M≥6.0 events are rare). Addressed with class_weight balancing in training.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Development &amp; Evaluation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822960"/>
            <a:ext cx="2971800" cy="1645920"/>
          </a:xfrm>
          <a:prstGeom prst="rect">
            <a:avLst/>
          </a:prstGeom>
          <a:solidFill>
            <a:srgbClr val="E8F4FD"/>
          </a:solidFill>
          <a:ln w="12700">
            <a:solidFill>
              <a:srgbClr val="C5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943600" y="868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Best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943600" y="1207008"/>
            <a:ext cx="2743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943600" y="166420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99.95%  ·  Macro F1 1.00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9202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trees · depth 6 · LR 0.05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sample_weight balanced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2724912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Importance (XGBoost)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309067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114032" y="3136392"/>
            <a:ext cx="127467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34426" y="309067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82%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52160" y="343814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114032" y="3483864"/>
            <a:ext cx="10881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68566" y="3438144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7%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852160" y="37856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114032" y="3831336"/>
            <a:ext cx="77724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37476" y="3785616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5%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852160" y="41330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7114032" y="4178808"/>
            <a:ext cx="62179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221931" y="413308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4%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852160" y="44805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location_type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114032" y="4526280"/>
            <a:ext cx="31090" cy="182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90842" y="448056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2%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</a:t>
            </a:r>
            <a:endParaRPr lang="en-US" sz="2600" dirty="0"/>
          </a:p>
        </p:txBody>
      </p:sp>
      <p:pic>
        <p:nvPicPr>
          <p:cNvPr id="4" name="Image 0" descr="/Users/biubiu/Desktop/EarthSafe/data/processed/fig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0"/>
            <a:ext cx="859536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02336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02336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609344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09344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2.0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816352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6352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3.0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23360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23360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1.35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230368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30368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5.20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437376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37376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7644384" y="4370832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44384" y="43708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Features &amp; Live Demo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1828800"/>
          </a:xfrm>
          <a:prstGeom prst="rect">
            <a:avLst/>
          </a:prstGeom>
          <a:solidFill>
            <a:srgbClr val="E8F8F5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7432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42416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🎚️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87552" y="1042416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Sliders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1609344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magnitude, depth, gap, RMS, location type — hazard level updates instantly without page reload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18688" y="914400"/>
            <a:ext cx="2743200" cy="1828800"/>
          </a:xfrm>
          <a:prstGeom prst="rect">
            <a:avLst/>
          </a:prstGeom>
          <a:solidFill>
            <a:srgbClr val="EBF5FB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18688" y="914400"/>
            <a:ext cx="2743200" cy="731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18688" y="1042416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931920" y="1042416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Earthquake Map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28416" y="1609344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world map with live USGS data — color-coded by hazard level, auto-refreshes every 5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914400"/>
            <a:ext cx="2743200" cy="1828800"/>
          </a:xfrm>
          <a:prstGeom prst="rect">
            <a:avLst/>
          </a:prstGeom>
          <a:solidFill>
            <a:srgbClr val="FEF9E7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63056" y="914400"/>
            <a:ext cx="2743200" cy="7315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63056" y="1042416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76288" y="1042416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 Display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72784" y="1609344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confidence scores for each class with visual progress bars and a magnitude gauge chart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907792"/>
            <a:ext cx="2743200" cy="1828800"/>
          </a:xfrm>
          <a:prstGeom prst="rect">
            <a:avLst/>
          </a:prstGeom>
          <a:solidFill>
            <a:srgbClr val="F4ECF7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07792"/>
            <a:ext cx="2743200" cy="731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035808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87552" y="303580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44A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Flask REST API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602736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/predict endpoint returns JSON with hazard_label, probabilities, and hex color — ready for integration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18688" y="2907792"/>
            <a:ext cx="2743200" cy="1828800"/>
          </a:xfrm>
          <a:prstGeom prst="rect">
            <a:avLst/>
          </a:prstGeom>
          <a:solidFill>
            <a:srgbClr val="EAFAF1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18688" y="2907792"/>
            <a:ext cx="274320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18688" y="3035808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931920" y="303580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USGS Proxy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28416" y="3602736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/recent fetches last 24h earthquakes in real time — feeds the Streamlit map with zero extra setup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63056" y="2907792"/>
            <a:ext cx="2743200" cy="182880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63056" y="2907792"/>
            <a:ext cx="2743200" cy="7315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3035808"/>
            <a:ext cx="731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876288" y="303580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Containerised Deploy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72784" y="3602736"/>
            <a:ext cx="251460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Google Cloud Run — scalable, serverless, stays live from June 2 to June 9 for grading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8412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Challenges, Learnings &amp; Future 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38912" y="896112"/>
            <a:ext cx="2697480" cy="5120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8961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Challenges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8912" y="155448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" y="155448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160934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class imbalance — only 7 High events in 2,000 records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38912" y="237744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" y="237744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243230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port 5000 blocked by AirPlay — migrated API to 5001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912" y="320040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" y="320040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5216" y="325526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OpenMP dependency on macOS required brew install libomp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402336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" y="4023360"/>
            <a:ext cx="64008" cy="7498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" y="407822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20k/request limit — solved with monthly chunk fetching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46704" y="896112"/>
            <a:ext cx="2697480" cy="5120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46704" y="8961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Learnings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346704" y="155448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46704" y="155448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93008" y="160934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MLOps: data → model → API → UI → cloud in one project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46704" y="237744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46704" y="237744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93008" y="243230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Flask-CORS + Streamlit cache_data for clean frontend/backend separation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46704" y="320040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46704" y="320040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325526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multi-service deployment with health check dependencies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46704" y="402336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46704" y="4023360"/>
            <a:ext cx="64008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93008" y="407822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sample_weight is more robust than class_weight for multiclass imbalance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54496" y="896112"/>
            <a:ext cx="2697480" cy="51206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54496" y="8961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Future Work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254496" y="155448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54496" y="155448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0" y="160934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temporal features — aftershock sequences and time-since-last event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54496" y="237744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4496" y="237744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243230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real-time WebSocket feed for sub-second map updates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54496" y="320040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54496" y="320040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325526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regression: predict magnitude from early signal features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54496" y="4023360"/>
            <a:ext cx="269748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54496" y="4023360"/>
            <a:ext cx="64008" cy="74980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4078224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6E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geospatial clustering — fault line proximity as a feature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5720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EarthSafe  ·  STAT 418  ·  Yutong Ma  ·  UCLA Spring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EarthSafe — STAT 418 Final Presentation</dc:title>
  <dc:subject>PptxGenJS Presentation</dc:subject>
  <dc:creator>Yutong Ma</dc:creator>
  <cp:lastModifiedBy>Yutong Ma</cp:lastModifiedBy>
  <cp:revision>1</cp:revision>
  <dcterms:created xsi:type="dcterms:W3CDTF">2026-05-08T06:57:04Z</dcterms:created>
  <dcterms:modified xsi:type="dcterms:W3CDTF">2026-05-08T06:57:04Z</dcterms:modified>
</cp:coreProperties>
</file>