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Hazard Label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7AE60"/>
              </a:solidFill>
              <a:effectLst/>
            </c:spPr>
          </c:dPt>
          <c:dPt>
            <c:idx val="1"/>
            <c:bubble3D val="0"/>
            <c:spPr>
              <a:solidFill>
                <a:srgbClr val="F39C12"/>
              </a:solidFill>
              <a:effectLst/>
            </c:spPr>
          </c:dPt>
          <c:dPt>
            <c:idx val="2"/>
            <c:bubble3D val="0"/>
            <c:spPr>
              <a:solidFill>
                <a:srgbClr val="E74C3C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Low (M&lt;4.0)</c:v>
                </c:pt>
                <c:pt idx="1">
                  <c:v>Moderate (4.0-6.0)</c:v>
                </c:pt>
                <c:pt idx="2">
                  <c:v>High (M&gt;=6.0)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1033</c:v>
                </c:pt>
                <c:pt idx="1">
                  <c:v>960</c:v>
                </c:pt>
                <c:pt idx="2">
                  <c:v>7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3A5F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E3A5F"/>
                </a:solidFill>
                <a:latin typeface="Arial"/>
              </a:rPr>
              <a:t>5-Fold CV Results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1A2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Logistic Regression</c:v>
                  </c:pt>
                  <c:pt idx="1">
                    <c:v>Random Forest</c:v>
                  </c:pt>
                  <c:pt idx="2">
                    <c:v>XGBoost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0.971</c:v>
                </c:pt>
                <c:pt idx="1">
                  <c:v>0.999</c:v>
                </c:pt>
                <c:pt idx="2">
                  <c:v>0.9995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Macro F1</c:v>
                </c:pt>
              </c:strCache>
            </c:strRef>
          </c:tx>
          <c:spPr>
            <a:solidFill>
              <a:srgbClr val="0D9488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1A2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Logistic Regression</c:v>
                  </c:pt>
                  <c:pt idx="1">
                    <c:v>Random Forest</c:v>
                  </c:pt>
                  <c:pt idx="2">
                    <c:v>XGBoost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0.861</c:v>
                </c:pt>
                <c:pt idx="1">
                  <c:v>0.944</c:v>
                </c:pt>
                <c:pt idx="2">
                  <c:v>1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0" i="0" strike="noStrike" sz="900" u="none">
                  <a:solidFill>
                    <a:srgbClr val="1A1A2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2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02"/>
          <c:min val="0.8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05840" y="640080"/>
            <a:ext cx="1005840" cy="100584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05840" y="658368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000000"/>
                </a:solidFill>
              </a:rPr>
              <a:t>🌍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457200" y="178308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EarthSafe</a:t>
            </a:r>
            <a:endParaRPr lang="en-US" sz="5800" dirty="0"/>
          </a:p>
        </p:txBody>
      </p:sp>
      <p:sp>
        <p:nvSpPr>
          <p:cNvPr id="6" name="Text 4"/>
          <p:cNvSpPr/>
          <p:nvPr/>
        </p:nvSpPr>
        <p:spPr>
          <a:xfrm>
            <a:off x="457200" y="283464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A8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Earthquake Hazard Prediction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2926080" y="3456432"/>
            <a:ext cx="329184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36118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 418  ·  UCLA  ·  Spring 2026  ·  Yutong Ma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645920" y="4206240"/>
            <a:ext cx="2560320" cy="457200"/>
          </a:xfrm>
          <a:prstGeom prst="roundRect">
            <a:avLst>
              <a:gd name="adj" fmla="val 16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645920" y="42062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🔗  earthsafe-eu9o2sytymwqnls48ppjg7.streamlit.app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937760" y="4206240"/>
            <a:ext cx="2560320" cy="457200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37760" y="42062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⚙️  API: Flask · POST /predict  (local / Cloud Run)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Project Overview &amp; Motivation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96012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Problem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365760" y="1371600"/>
            <a:ext cx="4114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Earthquakes kill thousands yearly, yet hazard information is buried in raw seismic data — not accessible to the public in real time.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EarthSafe bridges that gap with a plain-language hazard indicator anyone can understand.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0040" y="2999232"/>
            <a:ext cx="1389888" cy="1005840"/>
          </a:xfrm>
          <a:prstGeom prst="rect">
            <a:avLst/>
          </a:prstGeom>
          <a:solidFill>
            <a:srgbClr val="E8F4FD"/>
          </a:solidFill>
          <a:ln w="12700">
            <a:solidFill>
              <a:srgbClr val="C5DF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20040" y="3017520"/>
            <a:ext cx="138988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~55,000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320040" y="3493008"/>
            <a:ext cx="13898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M&gt;=2.5 earthquakes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year globally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828800" y="2999232"/>
            <a:ext cx="1389888" cy="1005840"/>
          </a:xfrm>
          <a:prstGeom prst="rect">
            <a:avLst/>
          </a:prstGeom>
          <a:solidFill>
            <a:srgbClr val="E8F4FD"/>
          </a:solidFill>
          <a:ln w="12700">
            <a:solidFill>
              <a:srgbClr val="C5DF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828800" y="3017520"/>
            <a:ext cx="138988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2,000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828800" y="3493008"/>
            <a:ext cx="13898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collected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(USGS 2023-2024)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337560" y="2999232"/>
            <a:ext cx="1389888" cy="1005840"/>
          </a:xfrm>
          <a:prstGeom prst="rect">
            <a:avLst/>
          </a:prstGeom>
          <a:solidFill>
            <a:srgbClr val="E8F4FD"/>
          </a:solidFill>
          <a:ln w="12700">
            <a:solidFill>
              <a:srgbClr val="C5DF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3337560" y="3017520"/>
            <a:ext cx="138988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3337560" y="3493008"/>
            <a:ext cx="13898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features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prediction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120640" y="9601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Hazard Levels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029200" y="1389888"/>
            <a:ext cx="3749040" cy="1005840"/>
          </a:xfrm>
          <a:prstGeom prst="rect">
            <a:avLst/>
          </a:prstGeom>
          <a:solidFill>
            <a:srgbClr val="EAFAF1"/>
          </a:solidFill>
          <a:ln w="12700">
            <a:solidFill>
              <a:srgbClr val="27AE6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029200" y="1389888"/>
            <a:ext cx="109728" cy="100584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230368" y="1463040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7AE6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🟢  Low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230368" y="1792224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Magnitude &lt; 4.0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230368" y="2029968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Minor shaking, rarely felt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029200" y="2578608"/>
            <a:ext cx="3749040" cy="1005840"/>
          </a:xfrm>
          <a:prstGeom prst="rect">
            <a:avLst/>
          </a:prstGeom>
          <a:solidFill>
            <a:srgbClr val="FEF9E7"/>
          </a:solidFill>
          <a:ln w="12700">
            <a:solidFill>
              <a:srgbClr val="F39C12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029200" y="2578608"/>
            <a:ext cx="109728" cy="10058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230368" y="2651760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9C1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🟡  Moderate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5230368" y="2980944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Magnitude 4.0–6.0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230368" y="3218688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Felt widely, possible minor damage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029200" y="3767328"/>
            <a:ext cx="3749040" cy="1005840"/>
          </a:xfrm>
          <a:prstGeom prst="rect">
            <a:avLst/>
          </a:prstGeom>
          <a:solidFill>
            <a:srgbClr val="FDEDEC"/>
          </a:solidFill>
          <a:ln w="12700">
            <a:solidFill>
              <a:srgbClr val="E74C3C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5029200" y="3767328"/>
            <a:ext cx="109728" cy="1005840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230368" y="3840480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74C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🔴  High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5230368" y="4169664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Magnitude ≥ 6.0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230368" y="4407408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shaking, significant damage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Collection &amp; Preprocessing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914400"/>
            <a:ext cx="4206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Pipeline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20040" y="1353312"/>
            <a:ext cx="475488" cy="47548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13533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1353312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USGS API Fetch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14400" y="1600200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requests library · monthly chunks · M≥2.5 · 2023–2024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0040" y="2240280"/>
            <a:ext cx="475488" cy="47548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" y="22402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14400" y="2240280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Feature Engineering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14400" y="2487168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location_type from place string · median-impute gap (103 nulls)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0040" y="3127248"/>
            <a:ext cx="475488" cy="47548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0040" y="31272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14400" y="3127248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Hazard Labeling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14400" y="3374136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&lt;4.0 · Moderate 4–6 · High ≥6 (rule-based)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20040" y="4014216"/>
            <a:ext cx="475488" cy="47548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0040" y="401421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14400" y="4014216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Train/Test Split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14400" y="4261104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Stratified 80/20 · 5-fold cross-validation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029200" y="914400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Class Distribution</a:t>
            </a:r>
            <a:endParaRPr lang="en-US" sz="180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4754880" y="1325880"/>
          <a:ext cx="41148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3" name="Shape 20"/>
          <p:cNvSpPr/>
          <p:nvPr/>
        </p:nvSpPr>
        <p:spPr>
          <a:xfrm>
            <a:off x="4754880" y="4389120"/>
            <a:ext cx="4114800" cy="502920"/>
          </a:xfrm>
          <a:prstGeom prst="rect">
            <a:avLst/>
          </a:prstGeom>
          <a:solidFill>
            <a:srgbClr val="FEF9E7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846320" y="4416552"/>
            <a:ext cx="3931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High class has only 7 records (M≥6.0 events are rare). Addressed with class_weight balancing in training.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Model Development &amp; Evaluation</a:t>
            </a:r>
            <a:endParaRPr lang="en-US" sz="2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32004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5852160" y="822960"/>
            <a:ext cx="2971800" cy="1645920"/>
          </a:xfrm>
          <a:prstGeom prst="rect">
            <a:avLst/>
          </a:prstGeom>
          <a:solidFill>
            <a:srgbClr val="E8F4FD"/>
          </a:solidFill>
          <a:ln w="12700">
            <a:solidFill>
              <a:srgbClr val="C5DF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5943600" y="86868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🏆  Best Model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943600" y="1207008"/>
            <a:ext cx="27432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XGBoost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943600" y="1664208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99.95%  ·  Macro F1 1.00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943600" y="1920240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 trees · depth 6 · LR 0.05</a:t>
            </a:r>
            <a:endParaRPr lang="en-US" sz="950" dirty="0"/>
          </a:p>
          <a:p>
            <a:pPr algn="ctr"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sample_weight balanced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852160" y="2724912"/>
            <a:ext cx="2971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Feature Importance (XGBoost)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852160" y="3090672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magnitude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7114032" y="3136392"/>
            <a:ext cx="1274674" cy="1828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434426" y="309067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82%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852160" y="3438144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7114032" y="3483864"/>
            <a:ext cx="108814" cy="1828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268566" y="3438144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7%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5852160" y="3785616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7114032" y="3831336"/>
            <a:ext cx="77724" cy="1828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237476" y="3785616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5%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5852160" y="4133088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7114032" y="4178808"/>
            <a:ext cx="62179" cy="1828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221931" y="4133088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4%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5852160" y="448056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location_type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7114032" y="4526280"/>
            <a:ext cx="31090" cy="1828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190842" y="448056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2%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Solution Architecture</a:t>
            </a:r>
            <a:endParaRPr lang="en-US" sz="2600" dirty="0"/>
          </a:p>
        </p:txBody>
      </p:sp>
      <p:pic>
        <p:nvPicPr>
          <p:cNvPr id="4" name="Image 0" descr="/Users/biubiu/Desktop/EarthSafe/data/processed/fig_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822960"/>
            <a:ext cx="8595360" cy="32918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02336" y="4370832"/>
            <a:ext cx="1097280" cy="347472"/>
          </a:xfrm>
          <a:prstGeom prst="roundRect">
            <a:avLst>
              <a:gd name="adj" fmla="val 15789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02336" y="437083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3.11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1609344" y="4370832"/>
            <a:ext cx="1097280" cy="347472"/>
          </a:xfrm>
          <a:prstGeom prst="roundRect">
            <a:avLst>
              <a:gd name="adj" fmla="val 15789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609344" y="437083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2.0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2816352" y="4370832"/>
            <a:ext cx="1097280" cy="347472"/>
          </a:xfrm>
          <a:prstGeom prst="roundRect">
            <a:avLst>
              <a:gd name="adj" fmla="val 15789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2816352" y="437083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 3.0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4023360" y="4370832"/>
            <a:ext cx="1097280" cy="347472"/>
          </a:xfrm>
          <a:prstGeom prst="roundRect">
            <a:avLst>
              <a:gd name="adj" fmla="val 15789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023360" y="437083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1.35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5230368" y="4370832"/>
            <a:ext cx="1097280" cy="347472"/>
          </a:xfrm>
          <a:prstGeom prst="roundRect">
            <a:avLst>
              <a:gd name="adj" fmla="val 15789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230368" y="437083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Plotly 5.20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6437376" y="4370832"/>
            <a:ext cx="1097280" cy="347472"/>
          </a:xfrm>
          <a:prstGeom prst="roundRect">
            <a:avLst>
              <a:gd name="adj" fmla="val 15789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437376" y="437083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7644384" y="4370832"/>
            <a:ext cx="1097280" cy="347472"/>
          </a:xfrm>
          <a:prstGeom prst="roundRect">
            <a:avLst>
              <a:gd name="adj" fmla="val 15789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644384" y="437083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Cloud Run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 Features &amp; Live Demo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2743200" cy="1828800"/>
          </a:xfrm>
          <a:prstGeom prst="rect">
            <a:avLst/>
          </a:prstGeom>
          <a:solidFill>
            <a:srgbClr val="E8F8F5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914400"/>
            <a:ext cx="2743200" cy="731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1042416"/>
            <a:ext cx="7315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🎚️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987552" y="1042416"/>
            <a:ext cx="19202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Interactive Sliders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84048" y="1609344"/>
            <a:ext cx="2514600" cy="1042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Drag magnitude, depth, gap, RMS, location type — hazard level updates instantly without page reload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18688" y="914400"/>
            <a:ext cx="2743200" cy="1828800"/>
          </a:xfrm>
          <a:prstGeom prst="rect">
            <a:avLst/>
          </a:prstGeom>
          <a:solidFill>
            <a:srgbClr val="EBF5FB"/>
          </a:solidFill>
          <a:ln w="12700">
            <a:solidFill>
              <a:srgbClr val="065A82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18688" y="914400"/>
            <a:ext cx="2743200" cy="73152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18688" y="1042416"/>
            <a:ext cx="7315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🗺️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931920" y="1042416"/>
            <a:ext cx="19202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 Earthquake Map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328416" y="1609344"/>
            <a:ext cx="2514600" cy="1042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Plotly world map with live USGS data — color-coded by hazard level, auto-refreshes every 5 min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163056" y="914400"/>
            <a:ext cx="2743200" cy="1828800"/>
          </a:xfrm>
          <a:prstGeom prst="rect">
            <a:avLst/>
          </a:prstGeom>
          <a:solidFill>
            <a:srgbClr val="FEF9E7"/>
          </a:solidFill>
          <a:ln w="12700">
            <a:solidFill>
              <a:srgbClr val="E67E22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163056" y="914400"/>
            <a:ext cx="2743200" cy="73152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63056" y="1042416"/>
            <a:ext cx="7315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6876288" y="1042416"/>
            <a:ext cx="19202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7E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Probability Display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272784" y="1609344"/>
            <a:ext cx="2514600" cy="1042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 confidence scores for each class with visual progress bars and a magnitude gauge chart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74320" y="2907792"/>
            <a:ext cx="2743200" cy="1828800"/>
          </a:xfrm>
          <a:prstGeom prst="rect">
            <a:avLst/>
          </a:prstGeom>
          <a:solidFill>
            <a:srgbClr val="F4ECF7"/>
          </a:solidFill>
          <a:ln w="12700">
            <a:solidFill>
              <a:srgbClr val="8E44AD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274320" y="2907792"/>
            <a:ext cx="2743200" cy="73152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74320" y="3035808"/>
            <a:ext cx="7315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⚡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987552" y="3035808"/>
            <a:ext cx="19202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E44A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Flask REST API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84048" y="3602736"/>
            <a:ext cx="2514600" cy="1042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/predict endpoint returns JSON with hazard_label, probabilities, and hex color — ready for integration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218688" y="2907792"/>
            <a:ext cx="2743200" cy="1828800"/>
          </a:xfrm>
          <a:prstGeom prst="rect">
            <a:avLst/>
          </a:prstGeom>
          <a:solidFill>
            <a:srgbClr val="EAFAF1"/>
          </a:solidFill>
          <a:ln w="12700">
            <a:solidFill>
              <a:srgbClr val="27AE6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218688" y="2907792"/>
            <a:ext cx="2743200" cy="73152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18688" y="3035808"/>
            <a:ext cx="7315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🌐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3931920" y="3035808"/>
            <a:ext cx="19202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7AE6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 USGS Proxy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3328416" y="3602736"/>
            <a:ext cx="2514600" cy="1042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/recent fetches last 24h earthquakes in real time — feeds the Streamlit map with zero extra setup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163056" y="2907792"/>
            <a:ext cx="2743200" cy="1828800"/>
          </a:xfrm>
          <a:prstGeom prst="rect">
            <a:avLst/>
          </a:prstGeom>
          <a:solidFill>
            <a:srgbClr val="FDEDEC"/>
          </a:solidFill>
          <a:ln w="12700">
            <a:solidFill>
              <a:srgbClr val="E74C3C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163056" y="2907792"/>
            <a:ext cx="2743200" cy="73152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163056" y="3035808"/>
            <a:ext cx="7315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🐳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6876288" y="3035808"/>
            <a:ext cx="19202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74C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Containerised Deploy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272784" y="3602736"/>
            <a:ext cx="2514600" cy="1042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+ Google Cloud Run — scalable, serverless, stays live from June 2 to June 9 for grading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56032"/>
            <a:ext cx="84124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Challenges, Learnings &amp; Future Work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38912" y="896112"/>
            <a:ext cx="2697480" cy="512064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38912" y="8961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⚡  Challenges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38912" y="1554480"/>
            <a:ext cx="2697480" cy="749808"/>
          </a:xfrm>
          <a:prstGeom prst="rect">
            <a:avLst/>
          </a:prstGeom>
          <a:solidFill>
            <a:srgbClr val="1E3A5F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38912" y="1554480"/>
            <a:ext cx="64008" cy="749808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85216" y="1609344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6E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Severe class imbalance — only 7 High events in 2,000 records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38912" y="2377440"/>
            <a:ext cx="2697480" cy="749808"/>
          </a:xfrm>
          <a:prstGeom prst="rect">
            <a:avLst/>
          </a:prstGeom>
          <a:solidFill>
            <a:srgbClr val="1E3A5F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8912" y="2377440"/>
            <a:ext cx="64008" cy="749808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85216" y="2432304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6E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macOS port 5000 blocked by AirPlay — migrated API to 5001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38912" y="3200400"/>
            <a:ext cx="2697480" cy="749808"/>
          </a:xfrm>
          <a:prstGeom prst="rect">
            <a:avLst/>
          </a:prstGeom>
          <a:solidFill>
            <a:srgbClr val="1E3A5F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38912" y="3200400"/>
            <a:ext cx="64008" cy="749808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85216" y="3255264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6E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OpenMP dependency on macOS required brew install libomp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38912" y="4023360"/>
            <a:ext cx="2697480" cy="749808"/>
          </a:xfrm>
          <a:prstGeom prst="rect">
            <a:avLst/>
          </a:prstGeom>
          <a:solidFill>
            <a:srgbClr val="1E3A5F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38912" y="4023360"/>
            <a:ext cx="64008" cy="749808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85216" y="4078224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6E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USGS 20k/request limit — solved with monthly chunk fetching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346704" y="896112"/>
            <a:ext cx="2697480" cy="5120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346704" y="8961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💡  Learnings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3346704" y="1554480"/>
            <a:ext cx="2697480" cy="749808"/>
          </a:xfrm>
          <a:prstGeom prst="rect">
            <a:avLst/>
          </a:prstGeom>
          <a:solidFill>
            <a:srgbClr val="1E3A5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346704" y="1554480"/>
            <a:ext cx="64008" cy="7498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493008" y="1609344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6E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MLOps: data → model → API → UI → cloud in one project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3346704" y="2377440"/>
            <a:ext cx="2697480" cy="749808"/>
          </a:xfrm>
          <a:prstGeom prst="rect">
            <a:avLst/>
          </a:prstGeom>
          <a:solidFill>
            <a:srgbClr val="1E3A5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346704" y="2377440"/>
            <a:ext cx="64008" cy="7498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493008" y="2432304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6E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Flask-CORS + Streamlit cache_data for clean frontend/backend separation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346704" y="3200400"/>
            <a:ext cx="2697480" cy="749808"/>
          </a:xfrm>
          <a:prstGeom prst="rect">
            <a:avLst/>
          </a:prstGeom>
          <a:solidFill>
            <a:srgbClr val="1E3A5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346704" y="3200400"/>
            <a:ext cx="64008" cy="7498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493008" y="3255264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6E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multi-service deployment with health check dependencies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3346704" y="4023360"/>
            <a:ext cx="2697480" cy="749808"/>
          </a:xfrm>
          <a:prstGeom prst="rect">
            <a:avLst/>
          </a:prstGeom>
          <a:solidFill>
            <a:srgbClr val="1E3A5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346704" y="4023360"/>
            <a:ext cx="64008" cy="7498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93008" y="4078224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6E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sample_weight is more robust than class_weight for multiclass imbalance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254496" y="896112"/>
            <a:ext cx="2697480" cy="512064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254496" y="8961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🚀  Future Work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6254496" y="1554480"/>
            <a:ext cx="2697480" cy="749808"/>
          </a:xfrm>
          <a:prstGeom prst="rect">
            <a:avLst/>
          </a:prstGeom>
          <a:solidFill>
            <a:srgbClr val="1E3A5F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254496" y="1554480"/>
            <a:ext cx="64008" cy="749808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0" y="1609344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6E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temporal features — aftershock sequences and time-since-last event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6254496" y="2377440"/>
            <a:ext cx="2697480" cy="749808"/>
          </a:xfrm>
          <a:prstGeom prst="rect">
            <a:avLst/>
          </a:prstGeom>
          <a:solidFill>
            <a:srgbClr val="1E3A5F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254496" y="2377440"/>
            <a:ext cx="64008" cy="749808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0" y="2432304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6E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USGS real-time WebSocket feed for sub-second map updates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6254496" y="3200400"/>
            <a:ext cx="2697480" cy="749808"/>
          </a:xfrm>
          <a:prstGeom prst="rect">
            <a:avLst/>
          </a:prstGeom>
          <a:solidFill>
            <a:srgbClr val="1E3A5F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254496" y="3200400"/>
            <a:ext cx="64008" cy="749808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0" y="3255264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6E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to regression: predict magnitude from early signal features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6254496" y="4023360"/>
            <a:ext cx="2697480" cy="749808"/>
          </a:xfrm>
          <a:prstGeom prst="rect">
            <a:avLst/>
          </a:prstGeom>
          <a:solidFill>
            <a:srgbClr val="1E3A5F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6254496" y="4023360"/>
            <a:ext cx="64008" cy="749808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0800" y="4078224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6E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geospatial clustering — fault line proximity as a feature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457200" y="47548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EarthSafe  ·  STAT 418  ·  Yutong Ma  ·  UCLA Spring 2026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EarthSafe — STAT 418 Final Presentation</dc:title>
  <dc:subject>PptxGenJS Presentation</dc:subject>
  <dc:creator>Yutong Ma</dc:creator>
  <cp:lastModifiedBy>Yutong Ma</cp:lastModifiedBy>
  <cp:revision>1</cp:revision>
  <dcterms:created xsi:type="dcterms:W3CDTF">2026-05-14T08:48:49Z</dcterms:created>
  <dcterms:modified xsi:type="dcterms:W3CDTF">2026-05-14T08:48:49Z</dcterms:modified>
</cp:coreProperties>
</file>