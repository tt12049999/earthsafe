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Hazard Label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8449"/>
              </a:solidFill>
              <a:effectLst/>
            </c:spPr>
          </c:dPt>
          <c:dPt>
            <c:idx val="1"/>
            <c:bubble3D val="0"/>
            <c:spPr>
              <a:solidFill>
                <a:srgbClr val="D4800A"/>
              </a:solidFill>
              <a:effectLst/>
            </c:spPr>
          </c:dPt>
          <c:dPt>
            <c:idx val="2"/>
            <c:bubble3D val="0"/>
            <c:spPr>
              <a:solidFill>
                <a:srgbClr val="C0392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Low (M&lt;4.0)</c:v>
                </c:pt>
                <c:pt idx="1">
                  <c:v>Moderate (4.0-6.0)</c:v>
                </c:pt>
                <c:pt idx="2">
                  <c:v>High (M&gt;=6.0)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1033</c:v>
                </c:pt>
                <c:pt idx="1">
                  <c:v>960</c:v>
                </c:pt>
                <c:pt idx="2">
                  <c:v>7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A5276"/>
                </a:solidFill>
                <a:latin typeface="Arial"/>
              </a:defRPr>
            </a:pPr>
            <a:r>
              <a:rPr sz="1500" b="0" i="0" u="none" strike="noStrike">
                <a:solidFill>
                  <a:srgbClr val="1A5276"/>
                </a:solidFill>
                <a:latin typeface="Arial"/>
              </a:rPr>
              <a:t>5-Fold Cross-Validation Results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1A527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Logistic Regression</c:v>
                  </c:pt>
                  <c:pt idx="1">
                    <c:v>Random Forest</c:v>
                  </c:pt>
                  <c:pt idx="2">
                    <c:v>XGBoost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0.971</c:v>
                </c:pt>
                <c:pt idx="1">
                  <c:v>0.999</c:v>
                </c:pt>
                <c:pt idx="2">
                  <c:v>0.9995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Macro F1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Logistic Regression</c:v>
                  </c:pt>
                  <c:pt idx="1">
                    <c:v>Random Forest</c:v>
                  </c:pt>
                  <c:pt idx="2">
                    <c:v>XGBoost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0.861</c:v>
                </c:pt>
                <c:pt idx="1">
                  <c:v>0.944</c:v>
                </c:pt>
                <c:pt idx="2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05"/>
          <c:min val="0.8"/>
        </c:scaling>
        <c:delete val="0"/>
        <c:axPos val="l"/>
        <c:majorGridlines>
          <c:spPr>
            <a:ln w="6350" cap="flat">
              <a:solidFill>
                <a:srgbClr val="D5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627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3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011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457200"/>
            <a:ext cx="2194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000000"/>
                </a:solidFill>
              </a:rPr>
              <a:t>🌍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8229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EarthSafe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Earthquake Hazard Prediction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200400" y="3310128"/>
            <a:ext cx="2743200" cy="45720"/>
          </a:xfrm>
          <a:prstGeom prst="rect">
            <a:avLst/>
          </a:prstGeom>
          <a:solidFill>
            <a:srgbClr val="B2D8F0"/>
          </a:solidFill>
          <a:ln w="12700">
            <a:solidFill>
              <a:srgbClr val="B2D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45643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 418  ·  UCLA  ·  Spring 2026  ·  Yutong Ma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463040" y="3977640"/>
            <a:ext cx="2834640" cy="502920"/>
          </a:xfrm>
          <a:prstGeom prst="roundRect">
            <a:avLst>
              <a:gd name="adj" fmla="val 14545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63040" y="39776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earthsafe-eu9o2sytymwqnls48ppjg7.streamlit.app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46320" y="3977640"/>
            <a:ext cx="2834640" cy="502920"/>
          </a:xfrm>
          <a:prstGeom prst="roundRect">
            <a:avLst>
              <a:gd name="adj" fmla="val 14545"/>
            </a:avLst>
          </a:prstGeom>
          <a:solidFill>
            <a:srgbClr val="D68910"/>
          </a:solidFill>
          <a:ln w="12700">
            <a:solidFill>
              <a:srgbClr val="D6891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39776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Flask API  ·  POST /predict  ·  GET /recent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772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95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Overview &amp; Motivation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100584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43891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year ~55,000 earthquakes of M≥2.5 occur globally. USGS publishes the data in real time — but it's raw, technical numbers that most people cannot act on.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EarthSafe translates seismic parameters into a clear hazard level: Low, Moderate, or High.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47472" y="3108960"/>
            <a:ext cx="1389888" cy="1051560"/>
          </a:xfrm>
          <a:prstGeom prst="rect">
            <a:avLst/>
          </a:prstGeom>
          <a:solidFill>
            <a:srgbClr val="EAF4FB"/>
          </a:solidFill>
          <a:ln w="12700">
            <a:solidFill>
              <a:srgbClr val="B2D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7472" y="3145536"/>
            <a:ext cx="138988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55,000+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7472" y="3657600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M≥2.5 quakes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 (global)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83664" y="3108960"/>
            <a:ext cx="1389888" cy="1051560"/>
          </a:xfrm>
          <a:prstGeom prst="rect">
            <a:avLst/>
          </a:prstGeom>
          <a:solidFill>
            <a:srgbClr val="EAF4FB"/>
          </a:solidFill>
          <a:ln w="12700">
            <a:solidFill>
              <a:srgbClr val="B2D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883664" y="3145536"/>
            <a:ext cx="138988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2,000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883664" y="3657600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collected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USGS 2023-2024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19856" y="3108960"/>
            <a:ext cx="1389888" cy="1051560"/>
          </a:xfrm>
          <a:prstGeom prst="rect">
            <a:avLst/>
          </a:prstGeom>
          <a:solidFill>
            <a:srgbClr val="EAF4FB"/>
          </a:solidFill>
          <a:ln w="12700">
            <a:solidFill>
              <a:srgbClr val="B2D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419856" y="3145536"/>
            <a:ext cx="138988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419856" y="3657600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features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prediction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0" y="10058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Hazard Levels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937760" y="1481328"/>
            <a:ext cx="3840480" cy="1005840"/>
          </a:xfrm>
          <a:prstGeom prst="rect">
            <a:avLst/>
          </a:prstGeom>
          <a:solidFill>
            <a:srgbClr val="E9F7EF"/>
          </a:solidFill>
          <a:ln w="12700">
            <a:solidFill>
              <a:srgbClr val="1E8449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937760" y="1481328"/>
            <a:ext cx="128016" cy="1005840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66360" y="1572768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844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🟢  Low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166360" y="1975104"/>
            <a:ext cx="3520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 &lt; 4.0  ·  Minor shaking, rarely felt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937760" y="2651760"/>
            <a:ext cx="3840480" cy="1005840"/>
          </a:xfrm>
          <a:prstGeom prst="rect">
            <a:avLst/>
          </a:prstGeom>
          <a:solidFill>
            <a:srgbClr val="FEF9E7"/>
          </a:solidFill>
          <a:ln w="12700">
            <a:solidFill>
              <a:srgbClr val="D4800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37760" y="2651760"/>
            <a:ext cx="128016" cy="1005840"/>
          </a:xfrm>
          <a:prstGeom prst="rect">
            <a:avLst/>
          </a:prstGeom>
          <a:solidFill>
            <a:srgbClr val="D4800A"/>
          </a:solidFill>
          <a:ln w="12700">
            <a:solidFill>
              <a:srgbClr val="D4800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66360" y="2743200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48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🟡  Moderate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5166360" y="3145536"/>
            <a:ext cx="3520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 4.0–6.0  ·  Widely felt, possible minor damage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937760" y="3822192"/>
            <a:ext cx="3840480" cy="1005840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937760" y="3822192"/>
            <a:ext cx="128016" cy="10058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66360" y="3913632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🔴  High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5166360" y="4315968"/>
            <a:ext cx="3520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 ≥ 6.0  ·  Strong shaking, significant damage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772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95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Collection &amp; Preprocessing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91440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Pipeline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20040" y="1417320"/>
            <a:ext cx="502920" cy="5029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9264" y="1435608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USGS API Fetch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9264" y="1691640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chunks · M≥2.5 · 2023–2024 · 2,000 records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2276856"/>
            <a:ext cx="502920" cy="5029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22768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9264" y="2295144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 Engineering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69264" y="2551176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location_type from place text · impute gap (103 nulls with median)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0040" y="3136392"/>
            <a:ext cx="502920" cy="5029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31363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69264" y="3154680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Hazard Labeling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9264" y="3410712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Rule-based: Low &lt;4.0 · Moderate 4–6 · High ≥6.0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20040" y="3995928"/>
            <a:ext cx="502920" cy="5029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39959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69264" y="401421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Stratified CV Split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69264" y="4270248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cross-validation, stratified by hazard class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29200" y="91440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 Distribution</a:t>
            </a:r>
            <a:endParaRPr lang="en-US" sz="2000" dirty="0"/>
          </a:p>
        </p:txBody>
      </p:sp>
      <p:graphicFrame>
        <p:nvGraphicFramePr>
          <p:cNvPr id="23" name="Chart 0" descr=""/>
          <p:cNvGraphicFramePr/>
          <p:nvPr/>
        </p:nvGraphicFramePr>
        <p:xfrm>
          <a:off x="4663440" y="1353312"/>
          <a:ext cx="420624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4" name="Shape 21"/>
          <p:cNvSpPr/>
          <p:nvPr/>
        </p:nvSpPr>
        <p:spPr>
          <a:xfrm>
            <a:off x="4663440" y="4315968"/>
            <a:ext cx="4206240" cy="512064"/>
          </a:xfrm>
          <a:prstGeom prst="rect">
            <a:avLst/>
          </a:prstGeom>
          <a:solidFill>
            <a:srgbClr val="FEF9E7"/>
          </a:solidFill>
          <a:ln w="12700">
            <a:solidFill>
              <a:srgbClr val="D4800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754880" y="434340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High class: only 7 records (M≥6.0 events are rare). Handled with balanced sample weights in training.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772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95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Development &amp; Evaluation</a:t>
            </a:r>
            <a:endParaRPr lang="en-US" sz="3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868680"/>
          <a:ext cx="539496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897880" y="868680"/>
            <a:ext cx="2926080" cy="1737360"/>
          </a:xfrm>
          <a:prstGeom prst="rect">
            <a:avLst/>
          </a:prstGeom>
          <a:solidFill>
            <a:srgbClr val="EAF4FB"/>
          </a:solidFill>
          <a:ln w="12700">
            <a:solidFill>
              <a:srgbClr val="B2D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989320" y="91440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🏆  Best Model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989320" y="1280160"/>
            <a:ext cx="2743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XGBoost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5989320" y="179222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99.95%  ·  Macro F1 1.00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989320" y="20848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trees · depth 6 · lr 0.05 · sample_weight balanced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897880" y="27889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 Importance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897880" y="321868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205472" y="3273552"/>
            <a:ext cx="1139708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00044" y="32186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82%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897880" y="35661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205472" y="3621024"/>
            <a:ext cx="97292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57628" y="35661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897880" y="391363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205472" y="3968496"/>
            <a:ext cx="69494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29830" y="391363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897880" y="4261104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205472" y="4315968"/>
            <a:ext cx="55596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315932" y="426110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4%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897880" y="4608576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location_type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205472" y="4663440"/>
            <a:ext cx="27798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288134" y="460857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772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95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Solution Architecture</a:t>
            </a:r>
            <a:endParaRPr lang="en-US" sz="3000" dirty="0"/>
          </a:p>
        </p:txBody>
      </p:sp>
      <p:pic>
        <p:nvPicPr>
          <p:cNvPr id="5" name="Image 0" descr="/Users/biubiu/Desktop/EarthSafe/data/processed/fig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868680"/>
            <a:ext cx="8686800" cy="3337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93192" y="4407408"/>
            <a:ext cx="1115568" cy="384048"/>
          </a:xfrm>
          <a:prstGeom prst="roundRect">
            <a:avLst>
              <a:gd name="adj" fmla="val 1428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93192" y="4407408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1600200" y="4407408"/>
            <a:ext cx="1115568" cy="384048"/>
          </a:xfrm>
          <a:prstGeom prst="roundRect">
            <a:avLst>
              <a:gd name="adj" fmla="val 1428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600200" y="4407408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2.0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807208" y="4407408"/>
            <a:ext cx="1115568" cy="384048"/>
          </a:xfrm>
          <a:prstGeom prst="roundRect">
            <a:avLst>
              <a:gd name="adj" fmla="val 1428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807208" y="4407408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3.0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014216" y="4407408"/>
            <a:ext cx="1115568" cy="384048"/>
          </a:xfrm>
          <a:prstGeom prst="roundRect">
            <a:avLst>
              <a:gd name="adj" fmla="val 1428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014216" y="4407408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1.35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221224" y="4407408"/>
            <a:ext cx="1115568" cy="384048"/>
          </a:xfrm>
          <a:prstGeom prst="roundRect">
            <a:avLst>
              <a:gd name="adj" fmla="val 1428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221224" y="4407408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 5.20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28232" y="4407408"/>
            <a:ext cx="1115568" cy="384048"/>
          </a:xfrm>
          <a:prstGeom prst="roundRect">
            <a:avLst>
              <a:gd name="adj" fmla="val 1428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28232" y="4407408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635240" y="4407408"/>
            <a:ext cx="1115568" cy="384048"/>
          </a:xfrm>
          <a:prstGeom prst="roundRect">
            <a:avLst>
              <a:gd name="adj" fmla="val 1428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635240" y="4407408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Run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772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95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Features &amp; Live Demo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256032" y="932688"/>
            <a:ext cx="2816352" cy="1828800"/>
          </a:xfrm>
          <a:prstGeom prst="rect">
            <a:avLst/>
          </a:prstGeom>
          <a:solidFill>
            <a:srgbClr val="E0F5F2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56032" y="932688"/>
            <a:ext cx="2816352" cy="8229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9184" y="1078992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🎚️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05840" y="1078992"/>
            <a:ext cx="19568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Interactive Sliders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84048" y="1682496"/>
            <a:ext cx="2578608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magnitude, depth, gap, RMS, location type — hazard level updates instantly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18688" y="932688"/>
            <a:ext cx="2816352" cy="1828800"/>
          </a:xfrm>
          <a:prstGeom prst="rect">
            <a:avLst/>
          </a:prstGeom>
          <a:solidFill>
            <a:srgbClr val="EAF4FB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18688" y="932688"/>
            <a:ext cx="2816352" cy="82296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078992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🗺️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968496" y="1078992"/>
            <a:ext cx="19568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Earthquake Map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346704" y="1682496"/>
            <a:ext cx="2578608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 globe with live USGS data, color-coded by hazard, auto-refreshes every 5 min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81344" y="932688"/>
            <a:ext cx="2816352" cy="1828800"/>
          </a:xfrm>
          <a:prstGeom prst="rect">
            <a:avLst/>
          </a:prstGeom>
          <a:solidFill>
            <a:srgbClr val="FEF9E7"/>
          </a:solidFill>
          <a:ln w="12700">
            <a:solidFill>
              <a:srgbClr val="D6891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81344" y="932688"/>
            <a:ext cx="2816352" cy="82296"/>
          </a:xfrm>
          <a:prstGeom prst="rect">
            <a:avLst/>
          </a:prstGeom>
          <a:solidFill>
            <a:srgbClr val="D68910"/>
          </a:solidFill>
          <a:ln w="12700">
            <a:solidFill>
              <a:srgbClr val="D6891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54496" y="1078992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931152" y="1078992"/>
            <a:ext cx="19568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891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Probability Display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09360" y="1682496"/>
            <a:ext cx="2578608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scores for each class, progress bars, magnitude gauge chart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56032" y="2944368"/>
            <a:ext cx="2816352" cy="1828800"/>
          </a:xfrm>
          <a:prstGeom prst="rect">
            <a:avLst/>
          </a:prstGeom>
          <a:solidFill>
            <a:srgbClr val="F4ECF7"/>
          </a:solidFill>
          <a:ln w="12700">
            <a:solidFill>
              <a:srgbClr val="7D3C9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56032" y="2944368"/>
            <a:ext cx="2816352" cy="82296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9184" y="3090672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005840" y="3090672"/>
            <a:ext cx="19568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D3C9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Flask REST API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84048" y="3694176"/>
            <a:ext cx="2578608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/predict returns hazard_label, probabilities, hex color in JSON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18688" y="2944368"/>
            <a:ext cx="2816352" cy="1828800"/>
          </a:xfrm>
          <a:prstGeom prst="rect">
            <a:avLst/>
          </a:prstGeom>
          <a:solidFill>
            <a:srgbClr val="E9F7EF"/>
          </a:solidFill>
          <a:ln w="12700">
            <a:solidFill>
              <a:srgbClr val="1E8449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18688" y="2944368"/>
            <a:ext cx="2816352" cy="82296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91840" y="3090672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🌐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3968496" y="3090672"/>
            <a:ext cx="19568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844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USGS Live Proxy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346704" y="3694176"/>
            <a:ext cx="2578608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/recent fetches last 24h earthquakes in real time for the map feed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181344" y="2944368"/>
            <a:ext cx="2816352" cy="1828800"/>
          </a:xfrm>
          <a:prstGeom prst="rect">
            <a:avLst/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81344" y="2944368"/>
            <a:ext cx="2816352" cy="8229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54496" y="3090672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🐳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6931152" y="3090672"/>
            <a:ext cx="19568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Docker + Cloud Run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309360" y="3694176"/>
            <a:ext cx="2578608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Containerised, serverless deployment — app stays live June 2 to June 9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772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95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Challenges, Learnings &amp; Future Work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256032" y="914400"/>
            <a:ext cx="2816352" cy="5303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914400"/>
            <a:ext cx="2816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⚡  Challenges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56032" y="1517904"/>
            <a:ext cx="2816352" cy="713232"/>
          </a:xfrm>
          <a:prstGeom prst="rect">
            <a:avLst/>
          </a:prstGeom>
          <a:solidFill>
            <a:srgbClr val="FDEDEC"/>
          </a:solidFill>
          <a:ln w="12700">
            <a:solidFill>
              <a:srgbClr val="F5B7B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56032" y="1517904"/>
            <a:ext cx="91440" cy="71323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" y="1572768"/>
            <a:ext cx="2560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 class imbalance — only 7 High-hazard events in 2,000 records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6032" y="2322576"/>
            <a:ext cx="2816352" cy="713232"/>
          </a:xfrm>
          <a:prstGeom prst="rect">
            <a:avLst/>
          </a:prstGeom>
          <a:solidFill>
            <a:srgbClr val="FDEDEC"/>
          </a:solidFill>
          <a:ln w="12700">
            <a:solidFill>
              <a:srgbClr val="F5B7B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6032" y="2322576"/>
            <a:ext cx="91440" cy="71323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0624" y="2377440"/>
            <a:ext cx="2560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port 5000 blocked by AirPlay — migrated Flask API to port 5001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6032" y="3127248"/>
            <a:ext cx="2816352" cy="713232"/>
          </a:xfrm>
          <a:prstGeom prst="rect">
            <a:avLst/>
          </a:prstGeom>
          <a:solidFill>
            <a:srgbClr val="FDEDEC"/>
          </a:solidFill>
          <a:ln w="12700">
            <a:solidFill>
              <a:srgbClr val="F5B7B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56032" y="3127248"/>
            <a:ext cx="91440" cy="71323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" y="3182112"/>
            <a:ext cx="2560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requires brew install libomp on macOS for OpenMP support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56032" y="3931920"/>
            <a:ext cx="2816352" cy="713232"/>
          </a:xfrm>
          <a:prstGeom prst="rect">
            <a:avLst/>
          </a:prstGeom>
          <a:solidFill>
            <a:srgbClr val="FDEDEC"/>
          </a:solidFill>
          <a:ln w="12700">
            <a:solidFill>
              <a:srgbClr val="F5B7B1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56032" y="3931920"/>
            <a:ext cx="91440" cy="71323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0624" y="3986784"/>
            <a:ext cx="2560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USGS 20k/request limit — solved with monthly chunk fetching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18688" y="914400"/>
            <a:ext cx="2816352" cy="5303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18688" y="914400"/>
            <a:ext cx="2816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💡  Learnings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3218688" y="1517904"/>
            <a:ext cx="2816352" cy="713232"/>
          </a:xfrm>
          <a:prstGeom prst="rect">
            <a:avLst/>
          </a:prstGeom>
          <a:solidFill>
            <a:srgbClr val="E0F5F2"/>
          </a:solidFill>
          <a:ln w="12700">
            <a:solidFill>
              <a:srgbClr val="A2D9CE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18688" y="1517904"/>
            <a:ext cx="9144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3280" y="1572768"/>
            <a:ext cx="2560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MLOps pipeline in one project: collect → train → API → UI → cloud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18688" y="2322576"/>
            <a:ext cx="2816352" cy="713232"/>
          </a:xfrm>
          <a:prstGeom prst="rect">
            <a:avLst/>
          </a:prstGeom>
          <a:solidFill>
            <a:srgbClr val="E0F5F2"/>
          </a:solidFill>
          <a:ln w="12700">
            <a:solidFill>
              <a:srgbClr val="A2D9CE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18688" y="2322576"/>
            <a:ext cx="9144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83280" y="2377440"/>
            <a:ext cx="2560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 is the right metric for imbalanced multiclass, not accuracy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218688" y="3127248"/>
            <a:ext cx="2816352" cy="713232"/>
          </a:xfrm>
          <a:prstGeom prst="rect">
            <a:avLst/>
          </a:prstGeom>
          <a:solidFill>
            <a:srgbClr val="E0F5F2"/>
          </a:solidFill>
          <a:ln w="12700">
            <a:solidFill>
              <a:srgbClr val="A2D9CE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218688" y="3127248"/>
            <a:ext cx="9144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83280" y="3182112"/>
            <a:ext cx="2560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health checks + depends_on for reliable multi-service startup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218688" y="3931920"/>
            <a:ext cx="2816352" cy="713232"/>
          </a:xfrm>
          <a:prstGeom prst="rect">
            <a:avLst/>
          </a:prstGeom>
          <a:solidFill>
            <a:srgbClr val="E0F5F2"/>
          </a:solidFill>
          <a:ln w="12700">
            <a:solidFill>
              <a:srgbClr val="A2D9CE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218688" y="3931920"/>
            <a:ext cx="9144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383280" y="3986784"/>
            <a:ext cx="2560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sample_weight more robust than class_weight for rare classes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181344" y="914400"/>
            <a:ext cx="2816352" cy="53035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81344" y="914400"/>
            <a:ext cx="2816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🚀  Future Work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6181344" y="1517904"/>
            <a:ext cx="2816352" cy="713232"/>
          </a:xfrm>
          <a:prstGeom prst="rect">
            <a:avLst/>
          </a:prstGeom>
          <a:solidFill>
            <a:srgbClr val="EAF4FB"/>
          </a:solidFill>
          <a:ln w="12700">
            <a:solidFill>
              <a:srgbClr val="B2D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181344" y="1517904"/>
            <a:ext cx="91440" cy="71323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45936" y="1572768"/>
            <a:ext cx="2560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temporal features — aftershock sequences, time since last event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181344" y="2322576"/>
            <a:ext cx="2816352" cy="713232"/>
          </a:xfrm>
          <a:prstGeom prst="rect">
            <a:avLst/>
          </a:prstGeom>
          <a:solidFill>
            <a:srgbClr val="EAF4FB"/>
          </a:solidFill>
          <a:ln w="12700">
            <a:solidFill>
              <a:srgbClr val="B2D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181344" y="2322576"/>
            <a:ext cx="91440" cy="71323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45936" y="2377440"/>
            <a:ext cx="2560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USGS WebSocket feed for sub-second real-time map updates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181344" y="3127248"/>
            <a:ext cx="2816352" cy="713232"/>
          </a:xfrm>
          <a:prstGeom prst="rect">
            <a:avLst/>
          </a:prstGeom>
          <a:solidFill>
            <a:srgbClr val="EAF4FB"/>
          </a:solidFill>
          <a:ln w="12700">
            <a:solidFill>
              <a:srgbClr val="B2D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181344" y="3127248"/>
            <a:ext cx="91440" cy="71323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45936" y="3182112"/>
            <a:ext cx="2560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regression: predict magnitude from early seismic signals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181344" y="3931920"/>
            <a:ext cx="2816352" cy="713232"/>
          </a:xfrm>
          <a:prstGeom prst="rect">
            <a:avLst/>
          </a:prstGeom>
          <a:solidFill>
            <a:srgbClr val="EAF4FB"/>
          </a:solidFill>
          <a:ln w="12700">
            <a:solidFill>
              <a:srgbClr val="B2D8F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181344" y="3931920"/>
            <a:ext cx="91440" cy="71323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45936" y="3986784"/>
            <a:ext cx="2560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Geospatial clustering — fault line proximity as an engineered feature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365760" y="4919472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EarthSafe  ·  STAT 418  ·  Yutong Ma  ·  UCLA Spring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EarthSafe — STAT 418 Final Presentation</dc:title>
  <dc:subject>PptxGenJS Presentation</dc:subject>
  <dc:creator>Yutong Ma</dc:creator>
  <cp:lastModifiedBy>Yutong Ma</cp:lastModifiedBy>
  <cp:revision>1</cp:revision>
  <dcterms:created xsi:type="dcterms:W3CDTF">2026-05-14T09:49:22Z</dcterms:created>
  <dcterms:modified xsi:type="dcterms:W3CDTF">2026-05-14T09:49:22Z</dcterms:modified>
</cp:coreProperties>
</file>