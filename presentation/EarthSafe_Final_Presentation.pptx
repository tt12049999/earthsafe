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Hazard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8449"/>
              </a:solidFill>
              <a:effectLst/>
            </c:spPr>
          </c:dPt>
          <c:dPt>
            <c:idx val="1"/>
            <c:bubble3D val="0"/>
            <c:spPr>
              <a:solidFill>
                <a:srgbClr val="D4800A"/>
              </a:solidFill>
              <a:effectLst/>
            </c:spPr>
          </c:dPt>
          <c:dPt>
            <c:idx val="2"/>
            <c:bubble3D val="0"/>
            <c:spPr>
              <a:solidFill>
                <a:srgbClr val="C0392B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Low (M&lt;4.0)</c:v>
                </c:pt>
                <c:pt idx="1">
                  <c:v>Moderate (4.0-6.0)</c:v>
                </c:pt>
                <c:pt idx="2">
                  <c:v>High (M&gt;=6.0)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51.6</c:v>
                </c:pt>
                <c:pt idx="1">
                  <c:v>48</c:v>
                </c:pt>
                <c:pt idx="2">
                  <c:v>0.4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1A527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Logistic Regression</c:v>
                  </c:pt>
                  <c:pt idx="1">
                    <c:v>Random Forest</c:v>
                  </c:pt>
                  <c:pt idx="2">
                    <c:v>XGBoost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0.971</c:v>
                </c:pt>
                <c:pt idx="1">
                  <c:v>0.999</c:v>
                </c:pt>
                <c:pt idx="2">
                  <c:v>0.9995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Macro F1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Logistic Regression</c:v>
                  </c:pt>
                  <c:pt idx="1">
                    <c:v>Random Forest</c:v>
                  </c:pt>
                  <c:pt idx="2">
                    <c:v>XGBoost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0.861</c:v>
                </c:pt>
                <c:pt idx="1">
                  <c:v>0.944</c:v>
                </c:pt>
                <c:pt idx="2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05"/>
          <c:min val="0.8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3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011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457200"/>
            <a:ext cx="2194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000000"/>
                </a:solidFill>
              </a:rPr>
              <a:t>🌍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8229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EarthSafe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633472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Real-Time Earthquake Hazard Prediction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2011680" y="3337560"/>
            <a:ext cx="512064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45643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 418  ·  UCLA  ·  Spring 2026  ·  Yutong Ma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463040" y="3977640"/>
            <a:ext cx="2834640" cy="502920"/>
          </a:xfrm>
          <a:prstGeom prst="roundRect">
            <a:avLst>
              <a:gd name="adj" fmla="val 14545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63040" y="39776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earthsafe-eu9o2sytymwqnls48ppjg7.streamlit.app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46320" y="3977640"/>
            <a:ext cx="2834640" cy="502920"/>
          </a:xfrm>
          <a:prstGeom prst="roundRect">
            <a:avLst>
              <a:gd name="adj" fmla="val 14545"/>
            </a:avLst>
          </a:prstGeom>
          <a:solidFill>
            <a:srgbClr val="D68910"/>
          </a:solidFill>
          <a:ln w="12700">
            <a:solidFill>
              <a:srgbClr val="D6891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39776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Flask API  ·  POST /predict  ·  GET /recent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772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95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Overview &amp; Motivation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4389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426464"/>
            <a:ext cx="43891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year ~55,000 earthquakes of M≥2.5 occur globally. USGS publishes the data in real time — but it's raw, technical numbers most people cannot act on.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EarthSafe turns seismic parameters into a clear hazard level: Low, Moderate, or High.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47472" y="3218688"/>
            <a:ext cx="1389888" cy="1078992"/>
          </a:xfrm>
          <a:prstGeom prst="rect">
            <a:avLst/>
          </a:prstGeom>
          <a:solidFill>
            <a:srgbClr val="EAF4FB"/>
          </a:solidFill>
          <a:ln w="12700">
            <a:solidFill>
              <a:srgbClr val="B2D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7472" y="3255264"/>
            <a:ext cx="138988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55,000+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7472" y="3767328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M≥2.5 quakes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 (global)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83664" y="3218688"/>
            <a:ext cx="1389888" cy="1078992"/>
          </a:xfrm>
          <a:prstGeom prst="rect">
            <a:avLst/>
          </a:prstGeom>
          <a:solidFill>
            <a:srgbClr val="EAF4FB"/>
          </a:solidFill>
          <a:ln w="12700">
            <a:solidFill>
              <a:srgbClr val="B2D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883664" y="3255264"/>
            <a:ext cx="138988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2,000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883664" y="3767328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collected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USGS 2023-2024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19856" y="3218688"/>
            <a:ext cx="1389888" cy="1078992"/>
          </a:xfrm>
          <a:prstGeom prst="rect">
            <a:avLst/>
          </a:prstGeom>
          <a:solidFill>
            <a:srgbClr val="EAF4FB"/>
          </a:solidFill>
          <a:ln w="12700">
            <a:solidFill>
              <a:srgbClr val="B2D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419856" y="3255264"/>
            <a:ext cx="138988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419856" y="3767328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features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prediction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0" y="987552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Hazard Levels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937760" y="1463040"/>
            <a:ext cx="3840480" cy="1005840"/>
          </a:xfrm>
          <a:prstGeom prst="rect">
            <a:avLst/>
          </a:prstGeom>
          <a:solidFill>
            <a:srgbClr val="E9F7EF"/>
          </a:solidFill>
          <a:ln w="12700">
            <a:solidFill>
              <a:srgbClr val="1E8449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937760" y="1463040"/>
            <a:ext cx="128016" cy="1005840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66360" y="1554480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844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🟢  Low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166360" y="1956816"/>
            <a:ext cx="3520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 &lt; 4.0  ·  Minor shaking, rarely felt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937760" y="2633472"/>
            <a:ext cx="3840480" cy="1005840"/>
          </a:xfrm>
          <a:prstGeom prst="rect">
            <a:avLst/>
          </a:prstGeom>
          <a:solidFill>
            <a:srgbClr val="FEF9E7"/>
          </a:solidFill>
          <a:ln w="12700">
            <a:solidFill>
              <a:srgbClr val="D4800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37760" y="2633472"/>
            <a:ext cx="128016" cy="1005840"/>
          </a:xfrm>
          <a:prstGeom prst="rect">
            <a:avLst/>
          </a:prstGeom>
          <a:solidFill>
            <a:srgbClr val="D4800A"/>
          </a:solidFill>
          <a:ln w="12700">
            <a:solidFill>
              <a:srgbClr val="D4800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66360" y="2724912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48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🟡  Moderate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5166360" y="3127248"/>
            <a:ext cx="3520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 4.0–6.0  ·  Widely felt, possible minor damage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937760" y="3803904"/>
            <a:ext cx="3840480" cy="1005840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937760" y="3803904"/>
            <a:ext cx="128016" cy="10058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66360" y="3895344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🔴  High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5166360" y="4297680"/>
            <a:ext cx="3520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 ≥ 6.0  ·  Strong shaking, significant damage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772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95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Collection &amp; Preprocessing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91440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Pipeline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47472" y="1389888"/>
            <a:ext cx="530352" cy="53035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1389888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140817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USGS API Fetch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05840" y="166420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chunks · M≥2.5 · 2023–2024 · 2,000 records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7472" y="2212848"/>
            <a:ext cx="530352" cy="53035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" y="2212848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05840" y="223113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 Engineering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05840" y="248716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location_type from place text · impute gap (103 nulls with median)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47472" y="3035808"/>
            <a:ext cx="530352" cy="53035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" y="3035808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05840" y="305409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Hazard Labeling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05840" y="331012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Rule-based: Low &lt;4.0 · Moderate 4–6 · High ≥6.0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47472" y="3858768"/>
            <a:ext cx="530352" cy="53035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7472" y="3858768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05840" y="387705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Stratified CV Split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05840" y="413308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cross-validation, stratified by hazard class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37760" y="91440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 Distribution</a:t>
            </a:r>
            <a:endParaRPr lang="en-US" sz="2000" dirty="0"/>
          </a:p>
        </p:txBody>
      </p:sp>
      <p:graphicFrame>
        <p:nvGraphicFramePr>
          <p:cNvPr id="23" name="Chart 0" descr=""/>
          <p:cNvGraphicFramePr/>
          <p:nvPr/>
        </p:nvGraphicFramePr>
        <p:xfrm>
          <a:off x="4754880" y="1188720"/>
          <a:ext cx="41148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4" name="Shape 21"/>
          <p:cNvSpPr/>
          <p:nvPr/>
        </p:nvSpPr>
        <p:spPr>
          <a:xfrm>
            <a:off x="4754880" y="4187952"/>
            <a:ext cx="4114800" cy="658368"/>
          </a:xfrm>
          <a:prstGeom prst="rect">
            <a:avLst/>
          </a:prstGeom>
          <a:solidFill>
            <a:srgbClr val="FEF9E7"/>
          </a:solidFill>
          <a:ln w="12700">
            <a:solidFill>
              <a:srgbClr val="D6891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892040" y="4224528"/>
            <a:ext cx="3840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High class: only 7 records (M≥6.0 events are rare).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Handled with balanced sample weights in training.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772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95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Development &amp; Evaluation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91440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5-Fold Cross-Validation Results</a:t>
            </a:r>
            <a:endParaRPr lang="en-US" sz="1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274320" y="1261872"/>
          <a:ext cx="548640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897880" y="914400"/>
            <a:ext cx="2926080" cy="1554480"/>
          </a:xfrm>
          <a:prstGeom prst="rect">
            <a:avLst/>
          </a:prstGeom>
          <a:solidFill>
            <a:srgbClr val="FEF9E7"/>
          </a:solidFill>
          <a:ln w="12700">
            <a:solidFill>
              <a:srgbClr val="D6891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035040" y="987552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891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🏆  Best Model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943600" y="1316736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XGBoost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5943600" y="1847088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99.95%  ·  Macro F1 1.00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943600" y="212140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trees · depth 6 · lr 0.05 · sample_weight balanced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897880" y="27889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 Importance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897880" y="321868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205472" y="3273552"/>
            <a:ext cx="1139708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400044" y="32186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82%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897880" y="35661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205472" y="3621024"/>
            <a:ext cx="97292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357628" y="35661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897880" y="391363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205472" y="3968496"/>
            <a:ext cx="69494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329830" y="391363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897880" y="4261104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205472" y="4315968"/>
            <a:ext cx="55596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315932" y="426110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4%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897880" y="4608576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location_type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205472" y="4663440"/>
            <a:ext cx="27798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288134" y="460857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772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95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Solution Architecture</a:t>
            </a:r>
            <a:endParaRPr lang="en-US" sz="3000" dirty="0"/>
          </a:p>
        </p:txBody>
      </p:sp>
      <p:pic>
        <p:nvPicPr>
          <p:cNvPr id="5" name="Image 0" descr="/Users/biubiu/Desktop/EarthSafe/data/processed/fig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22960"/>
            <a:ext cx="8595360" cy="43342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772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95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Features &amp; Live Demo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73152" cy="10058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38912" y="996696"/>
            <a:ext cx="6035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🎚️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78992" y="1014984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Interactive Sliders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38912" y="1472184"/>
            <a:ext cx="4297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magnitude, depth, gap, RMS, location type — hazard level updates instantly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2039112"/>
            <a:ext cx="4480560" cy="18288"/>
          </a:xfrm>
          <a:prstGeom prst="rect">
            <a:avLst/>
          </a:prstGeom>
          <a:solidFill>
            <a:srgbClr val="B2D8F0"/>
          </a:solidFill>
          <a:ln w="12700">
            <a:solidFill>
              <a:srgbClr val="B2D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2221992"/>
            <a:ext cx="73152" cy="100584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" y="2258568"/>
            <a:ext cx="6035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🗺️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078992" y="2276856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Earthquake Map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38912" y="2734056"/>
            <a:ext cx="4297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 globe · live USGS data · color-coded by hazard · auto-refreshes every 5 min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74320" y="3300984"/>
            <a:ext cx="4480560" cy="18288"/>
          </a:xfrm>
          <a:prstGeom prst="rect">
            <a:avLst/>
          </a:prstGeom>
          <a:solidFill>
            <a:srgbClr val="B2D8F0"/>
          </a:solidFill>
          <a:ln w="12700">
            <a:solidFill>
              <a:srgbClr val="B2D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" y="3483864"/>
            <a:ext cx="73152" cy="1005840"/>
          </a:xfrm>
          <a:prstGeom prst="rect">
            <a:avLst/>
          </a:prstGeom>
          <a:solidFill>
            <a:srgbClr val="D68910"/>
          </a:solidFill>
          <a:ln w="12700">
            <a:solidFill>
              <a:srgbClr val="D6891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8912" y="3520440"/>
            <a:ext cx="6035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📊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078992" y="3538728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891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Probability Display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38912" y="3995928"/>
            <a:ext cx="4297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scores for each class + magnitude gauge chart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29200" y="960120"/>
            <a:ext cx="3840480" cy="475488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0" y="960120"/>
            <a:ext cx="3840480" cy="475488"/>
          </a:xfrm>
          <a:prstGeom prst="rect">
            <a:avLst/>
          </a:prstGeom>
          <a:noFill/>
          <a:ln/>
        </p:spPr>
        <p:txBody>
          <a:bodyPr wrap="square" lIns="0" tIns="17780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⚡  Flask REST API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029200" y="1435608"/>
            <a:ext cx="3840480" cy="1481328"/>
          </a:xfrm>
          <a:prstGeom prst="rect">
            <a:avLst/>
          </a:prstGeom>
          <a:solidFill>
            <a:srgbClr val="1E2B38"/>
          </a:solidFill>
          <a:ln w="12700">
            <a:solidFill>
              <a:srgbClr val="1E2B3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38928" y="1481328"/>
            <a:ext cx="3621024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/predict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{"magnitude": 7.0, "depth": 10,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"gap": 90, "rms": 0.3, "location_type": 0}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{"hazard_label": "High",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"color": "#e74c3c",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"probabilities": {...}}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3035808"/>
            <a:ext cx="457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🌐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5504688" y="305409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USGS Live Proxy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504688" y="3310128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/recent — last 24h quakes for the map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29200" y="3694176"/>
            <a:ext cx="457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🐳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5504688" y="37124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Docker + Cloud Run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504688" y="3968496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Containerised · serverless · live June 2–9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029200" y="4352544"/>
            <a:ext cx="457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🔄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5504688" y="437083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Auto-Refresh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504688" y="4626864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updates every 5 min via cache_data TTL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772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95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Challenges, Learnings &amp; Future Work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8595360" cy="1170432"/>
          </a:xfrm>
          <a:prstGeom prst="rect">
            <a:avLst/>
          </a:prstGeom>
          <a:solidFill>
            <a:srgbClr val="FEF0EE"/>
          </a:solidFill>
          <a:ln w="12700">
            <a:solidFill>
              <a:srgbClr val="FEF0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914400"/>
            <a:ext cx="91440" cy="117043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115568"/>
            <a:ext cx="694944" cy="694944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115568"/>
            <a:ext cx="69494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316736" y="1170432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03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Challenges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3127248" y="1042416"/>
            <a:ext cx="36576" cy="9144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91840" y="1097280"/>
            <a:ext cx="182880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64992" y="1097280"/>
            <a:ext cx="168249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High / 2,000 records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175504" y="1097280"/>
            <a:ext cx="182880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248656" y="1097280"/>
            <a:ext cx="168249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5000 → 5001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AirPlay conflict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059168" y="1097280"/>
            <a:ext cx="182880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132320" y="1097280"/>
            <a:ext cx="168249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brew install libomp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on Mac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74320" y="2176272"/>
            <a:ext cx="8595360" cy="1170432"/>
          </a:xfrm>
          <a:prstGeom prst="rect">
            <a:avLst/>
          </a:prstGeom>
          <a:solidFill>
            <a:srgbClr val="E6F7F5"/>
          </a:solidFill>
          <a:ln w="12700">
            <a:solidFill>
              <a:srgbClr val="E6F7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4320" y="21762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2377440"/>
            <a:ext cx="694944" cy="69494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377440"/>
            <a:ext cx="69494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316736" y="2432304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Learnings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3127248" y="2304288"/>
            <a:ext cx="36576" cy="914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359152"/>
            <a:ext cx="182880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364992" y="2359152"/>
            <a:ext cx="168249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MLOps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→ model → API → cloud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175504" y="2359152"/>
            <a:ext cx="182880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248656" y="2359152"/>
            <a:ext cx="168249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 &gt; Accuracy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imbalanced classes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059168" y="2359152"/>
            <a:ext cx="182880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7132320" y="2359152"/>
            <a:ext cx="168249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AI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debug &amp; deploy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74320" y="3438144"/>
            <a:ext cx="8595360" cy="1170432"/>
          </a:xfrm>
          <a:prstGeom prst="rect">
            <a:avLst/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74320" y="3438144"/>
            <a:ext cx="91440" cy="117043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639312"/>
            <a:ext cx="694944" cy="694944"/>
          </a:xfrm>
          <a:prstGeom prst="ellipse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3639312"/>
            <a:ext cx="69494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316736" y="3694176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Future Work</a:t>
            </a:r>
            <a:endParaRPr lang="en-US" sz="1900" dirty="0"/>
          </a:p>
        </p:txBody>
      </p:sp>
      <p:sp>
        <p:nvSpPr>
          <p:cNvPr id="34" name="Shape 32"/>
          <p:cNvSpPr/>
          <p:nvPr/>
        </p:nvSpPr>
        <p:spPr>
          <a:xfrm>
            <a:off x="3127248" y="3566160"/>
            <a:ext cx="36576" cy="9144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91840" y="3621024"/>
            <a:ext cx="182880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364992" y="3621024"/>
            <a:ext cx="168249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Features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afterShock sequences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175504" y="3621024"/>
            <a:ext cx="182880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248656" y="3621024"/>
            <a:ext cx="168249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USGS WebSocket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sub-second map updates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7059168" y="3621024"/>
            <a:ext cx="182880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7132320" y="3621024"/>
            <a:ext cx="168249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 Regression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warning potential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365760" y="4919472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EarthSafe  ·  STAT 418  ·  Yutong Ma  ·  UCLA Spring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EarthSafe — STAT 418 Final Presentation</dc:title>
  <dc:subject>PptxGenJS Presentation</dc:subject>
  <dc:creator>Yutong Ma</dc:creator>
  <cp:lastModifiedBy>Yutong Ma</cp:lastModifiedBy>
  <cp:revision>1</cp:revision>
  <dcterms:created xsi:type="dcterms:W3CDTF">2026-05-27T05:26:54Z</dcterms:created>
  <dcterms:modified xsi:type="dcterms:W3CDTF">2026-05-27T05:26:54Z</dcterms:modified>
</cp:coreProperties>
</file>