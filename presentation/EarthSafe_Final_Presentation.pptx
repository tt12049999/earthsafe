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Hazard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E8449"/>
              </a:solidFill>
              <a:effectLst/>
            </c:spPr>
          </c:dPt>
          <c:dPt>
            <c:idx val="1"/>
            <c:bubble3D val="0"/>
            <c:spPr>
              <a:solidFill>
                <a:srgbClr val="D4800A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400" b="1" i="0" u="none" strike="noStrike" kern="1200" baseline="0">
                        <a:solidFill>
                          <a:srgbClr val="000000"/>
                        </a:solidFill>
                        <a:latin typeface="Arial" panose="020B0604020202090204"/>
                        <a:ea typeface="+mn-ea"/>
                        <a:cs typeface="+mn-cs"/>
                      </a:defRPr>
                    </a:pPr>
                    <a:r>
                      <a:t>51.6</a:t>
                    </a:r>
                    <a:r>
                      <a:rPr lang="en-US" altLang="zh-CN"/>
                      <a:t>%</a:t>
                    </a:r>
                    <a:endParaRPr lang="en-US" altLang="zh-CN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1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400" b="1" i="0" u="none" strike="noStrike" kern="1200" baseline="0">
                        <a:solidFill>
                          <a:srgbClr val="000000"/>
                        </a:solidFill>
                        <a:latin typeface="Arial" panose="020B0604020202090204"/>
                        <a:ea typeface="+mn-ea"/>
                        <a:cs typeface="+mn-cs"/>
                      </a:defRPr>
                    </a:pPr>
                    <a:r>
                      <a:t>48</a:t>
                    </a:r>
                    <a:r>
                      <a:rPr lang="en-US" altLang="zh-CN"/>
                      <a:t>%</a:t>
                    </a:r>
                    <a:endParaRPr lang="en-US" altLang="zh-CN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1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400" b="1" i="0" u="none" strike="noStrike" kern="1200" baseline="0">
                        <a:solidFill>
                          <a:srgbClr val="000000"/>
                        </a:solidFill>
                        <a:latin typeface="Arial" panose="020B0604020202090204"/>
                        <a:ea typeface="+mn-ea"/>
                        <a:cs typeface="+mn-cs"/>
                      </a:defRPr>
                    </a:pPr>
                    <a:r>
                      <a:t>0.4</a:t>
                    </a:r>
                    <a:r>
                      <a:rPr lang="en-US" altLang="zh-CN"/>
                      <a:t>%</a:t>
                    </a:r>
                    <a:endParaRPr lang="en-US" altLang="zh-CN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1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1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Low (M&lt;4.0)</c:v>
                </c:pt>
                <c:pt idx="1">
                  <c:v>Moderate (4.0-6.0)</c:v>
                </c:pt>
                <c:pt idx="2">
                  <c:v>High (M&gt;=6.0)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51.6</c:v>
                </c:pt>
                <c:pt idx="1">
                  <c:v>48</c:v>
                </c:pt>
                <c:pt idx="2">
                  <c:v>0.4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4bfcc5a-c2e2-4208-b92b-0cc34ced85f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0.971</c:v>
                </c:pt>
                <c:pt idx="1">
                  <c:v>0.999</c:v>
                </c:pt>
                <c:pt idx="2">
                  <c:v>0.9995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0.861</c:v>
                </c:pt>
                <c:pt idx="1">
                  <c:v>0.944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.8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220be77-f3ab-409a-8db2-11791656a01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arthsafe-api-589990931603.us-central1.run.app/apidocs" TargetMode="External"/><Relationship Id="rId1" Type="http://schemas.openxmlformats.org/officeDocument/2006/relationships/hyperlink" Target="https://earthsafe-eu9o2sytymwqnls48ppjg7.streamlit.ap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arthsafe-api-589990931603.us-central1.run.app/apidocs" TargetMode="External"/><Relationship Id="rId1" Type="http://schemas.openxmlformats.org/officeDocument/2006/relationships/hyperlink" Target="https://earthsafe-eu9o2sytymwqnls48ppjg7.streamlit.ap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474720" y="457200"/>
            <a:ext cx="21945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EarthSafe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D948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Real-Time Earthquake Hazard Prediction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0" y="3337560"/>
            <a:ext cx="5120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UCLA  ·  Spring 2026  ·  Yutong 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39776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63040" y="3977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/>
              </a:rPr>
              <a:t>🔗  earthsafe-eu9o2sytymwqnls48ppjg7.streamlit.app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9776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46320" y="3977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⚙️  Flask API  ·  POST /predict  ·  GET /recent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Project Overview &amp; 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3891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438912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~55,000 earthquakes of M≥2.5 occur globally. USGS publishes the data in real time — but it's raw, technical numbers most people cannot act on.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EarthSafe turns seismic parameters into a clear hazard level: Low, Moderate, or High.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3218688"/>
            <a:ext cx="1389888" cy="107899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3255264"/>
            <a:ext cx="13898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55,000+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3767328"/>
            <a:ext cx="138988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M≥2.5 quakes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(global)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83664" y="3218688"/>
            <a:ext cx="1389888" cy="107899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83664" y="3255264"/>
            <a:ext cx="13898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2,000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83664" y="3767328"/>
            <a:ext cx="138988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collected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2023-2024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9856" y="3218688"/>
            <a:ext cx="1389888" cy="107899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9856" y="3255264"/>
            <a:ext cx="13898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9856" y="3767328"/>
            <a:ext cx="138988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987552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Hazard Levels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937760" y="1463040"/>
            <a:ext cx="3840480" cy="1005840"/>
          </a:xfrm>
          <a:prstGeom prst="rect">
            <a:avLst/>
          </a:prstGeom>
          <a:solidFill>
            <a:srgbClr val="E9F7EF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463040"/>
            <a:ext cx="128016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554480"/>
            <a:ext cx="3520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449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🟢  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66360" y="1956816"/>
            <a:ext cx="3520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&lt; 4.0  ·  Minor shaking, rarely felt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633472"/>
            <a:ext cx="3840480" cy="10058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800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633472"/>
            <a:ext cx="128016" cy="100584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724912"/>
            <a:ext cx="3520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800A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🟡  Moderate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66360" y="3127248"/>
            <a:ext cx="3520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4.0–6.0  ·  Widely felt, possible minor damage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3803904"/>
            <a:ext cx="384048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803904"/>
            <a:ext cx="128016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895344"/>
            <a:ext cx="3520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🔴  High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66360" y="4297680"/>
            <a:ext cx="3520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≥ 6.0  ·  Strong shaking, significant damage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Data Collection &amp; Preprocessing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Data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USGS API Fetch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chunks · M≥2.5 · 2023–2024 · 2,000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1284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3113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48716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location_type from place text · impute gap (103 nulls with median)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03580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3580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Hazard Labeling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Low &lt;4.0 · Moderate 4–6 · High ≥6.0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385876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85876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77056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Stratified CV Split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13308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stratified by hazard class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Class Distribution</a:t>
            </a:r>
            <a:endParaRPr lang="en-US" sz="2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754880" y="118872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Shape 21"/>
          <p:cNvSpPr/>
          <p:nvPr/>
        </p:nvSpPr>
        <p:spPr>
          <a:xfrm>
            <a:off x="4663440" y="4315968"/>
            <a:ext cx="4206240" cy="512064"/>
          </a:xfrm>
          <a:prstGeom prst="rect">
            <a:avLst/>
          </a:prstGeom>
          <a:solidFill>
            <a:srgbClr val="FEF9E7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0" y="434340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 class: only 7 records (M≥6.0 events are rare). Handled with balanced sample weights in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Model Development &amp; Evaluation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5-Fold Cross-Validation Results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7965" y="1271397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914400"/>
            <a:ext cx="2926080" cy="1554480"/>
          </a:xfrm>
          <a:prstGeom prst="rect">
            <a:avLst/>
          </a:prstGeom>
          <a:solidFill>
            <a:srgbClr val="FEF9E7"/>
          </a:solidFill>
          <a:ln w="12700">
            <a:solidFill>
              <a:srgbClr val="D6891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987552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891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🏆  Best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0" y="1316736"/>
            <a:ext cx="2743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XGBoost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0" y="1847088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99.95%  ·  Macro F1 1.00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21214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· depth 6 · lr 0.05 · sample_weight balanced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7889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97880" y="3218688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05472" y="3273552"/>
            <a:ext cx="113970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00044" y="321868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5661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05472" y="3621024"/>
            <a:ext cx="972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57628" y="35661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913632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05472" y="3968496"/>
            <a:ext cx="6949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29830" y="3913632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4261104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05472" y="4315968"/>
            <a:ext cx="5559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932" y="4261104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97880" y="4608576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location_type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05472" y="4663440"/>
            <a:ext cx="2779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88134" y="4608576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  <p:sp>
        <p:nvSpPr>
          <p:cNvPr id="33" name="Shape 3"/>
          <p:cNvSpPr/>
          <p:nvPr/>
        </p:nvSpPr>
        <p:spPr>
          <a:xfrm>
            <a:off x="5897880" y="868680"/>
            <a:ext cx="2926080" cy="1737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4"/>
          <p:cNvSpPr/>
          <p:nvPr/>
        </p:nvSpPr>
        <p:spPr>
          <a:xfrm>
            <a:off x="5989320" y="91440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🏆  Best Model</a:t>
            </a:r>
            <a:endParaRPr lang="en-US" sz="1600" dirty="0"/>
          </a:p>
        </p:txBody>
      </p:sp>
      <p:sp>
        <p:nvSpPr>
          <p:cNvPr id="35" name="Text 5"/>
          <p:cNvSpPr/>
          <p:nvPr/>
        </p:nvSpPr>
        <p:spPr>
          <a:xfrm>
            <a:off x="5989320" y="1280160"/>
            <a:ext cx="2743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XGBoost</a:t>
            </a:r>
            <a:endParaRPr lang="en-US" sz="3400" dirty="0"/>
          </a:p>
        </p:txBody>
      </p:sp>
      <p:sp>
        <p:nvSpPr>
          <p:cNvPr id="36" name="Text 6"/>
          <p:cNvSpPr/>
          <p:nvPr/>
        </p:nvSpPr>
        <p:spPr>
          <a:xfrm>
            <a:off x="5989320" y="1792224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99.95%  ·  Macro F1 1.00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5989320" y="2084832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· depth 6 · lr 0.05 · sample_weight balanced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Solution Architecture</a:t>
            </a:r>
            <a:endParaRPr lang="en-US" sz="3000" dirty="0"/>
          </a:p>
        </p:txBody>
      </p:sp>
      <p:pic>
        <p:nvPicPr>
          <p:cNvPr id="5" name="Image 0" descr="/Users/biubiu/Desktop/EarthSafe/data/processed/fig_architecture.png"/>
          <p:cNvPicPr>
            <a:picLocks noChangeAspect="1"/>
          </p:cNvPicPr>
          <p:nvPr/>
        </p:nvPicPr>
        <p:blipFill>
          <a:blip r:embed="rId1"/>
          <a:srcRect t="14445"/>
          <a:stretch>
            <a:fillRect/>
          </a:stretch>
        </p:blipFill>
        <p:spPr>
          <a:xfrm>
            <a:off x="320040" y="973455"/>
            <a:ext cx="8595360" cy="3708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00200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07208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07208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14216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14216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21224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21224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5.20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28232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35240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44074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App Features &amp;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96696"/>
            <a:ext cx="6035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🎚️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014984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Interactive Sliders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" y="1472184"/>
            <a:ext cx="4297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magnitude, depth, gap, RMS, location type — hazard level updates instantly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480560" cy="18288"/>
          </a:xfrm>
          <a:prstGeom prst="rect">
            <a:avLst/>
          </a:prstGeom>
          <a:solidFill>
            <a:srgbClr val="B2D8F0"/>
          </a:solidFill>
          <a:ln w="12700">
            <a:solidFill>
              <a:srgbClr val="B2D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21992"/>
            <a:ext cx="73152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58568"/>
            <a:ext cx="6035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78992" y="2276856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Live Earthquake Map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" y="2734056"/>
            <a:ext cx="4297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globe · live USGS data · color-coded by hazard · auto-refreshes every 5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00984"/>
            <a:ext cx="4480560" cy="18288"/>
          </a:xfrm>
          <a:prstGeom prst="rect">
            <a:avLst/>
          </a:prstGeom>
          <a:solidFill>
            <a:srgbClr val="B2D8F0"/>
          </a:solidFill>
          <a:ln w="12700">
            <a:solidFill>
              <a:srgbClr val="B2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83864"/>
            <a:ext cx="73152" cy="10058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20440"/>
            <a:ext cx="6035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78992" y="3538728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891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Probability Display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" y="3995928"/>
            <a:ext cx="4297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for each class + magnitude gauge chart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960120"/>
            <a:ext cx="3840480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960120"/>
            <a:ext cx="3840480" cy="475488"/>
          </a:xfrm>
          <a:prstGeom prst="rect">
            <a:avLst/>
          </a:prstGeom>
          <a:noFill/>
        </p:spPr>
        <p:txBody>
          <a:bodyPr wrap="square" lIns="0" tIns="17780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⚡  Flask REST 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0" y="1435608"/>
            <a:ext cx="3840480" cy="1481328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1481328"/>
            <a:ext cx="3621024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POST /predict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{"magnitude": 7.0, "depth": 10,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"gap": 90, "rms": 0.3, "location_type": 0}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 {"hazard_label": "High",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"color": "#e74c3c",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"probabilities": {...}}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457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04688" y="3054096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USGS Live Proxy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4688" y="3310128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/recent — last 24h quakes for the 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694176"/>
            <a:ext cx="457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04688" y="3712464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Docker + Cloud Run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3968496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· serverless · live June 2–9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352544"/>
            <a:ext cx="457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04688" y="437083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Auto-Refresh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4626864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updates every 5 min via cache_data TTL</a:t>
            </a:r>
            <a:endParaRPr lang="en-US" sz="1200" dirty="0"/>
          </a:p>
        </p:txBody>
      </p:sp>
      <p:sp>
        <p:nvSpPr>
          <p:cNvPr id="32" name="文本框 31"/>
          <p:cNvSpPr txBox="1"/>
          <p:nvPr/>
        </p:nvSpPr>
        <p:spPr>
          <a:xfrm>
            <a:off x="274320" y="4745355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  <a:hlinkClick r:id="rId1"/>
              </a:rPr>
              <a:t>🔗  earthsafe-eu9o2sytymwqnls48ppjg7.streamlit.app</a:t>
            </a:r>
            <a:endParaRPr lang="en-US" alt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  <a:hlinkClick r:id="rId1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4320" y="4392930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  <a:hlinkClick r:id="rId2"/>
              </a:rPr>
              <a:t>⚙️  Flask API  ·  POST /predict  ·  GET /recent</a:t>
            </a:r>
            <a:endParaRPr lang="en-US" alt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  <a:hlinkClick r:id="rId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Challenges, Learnings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170432"/>
          </a:xfrm>
          <a:prstGeom prst="rect">
            <a:avLst/>
          </a:prstGeom>
          <a:solidFill>
            <a:srgbClr val="FEF0EE"/>
          </a:solidFill>
          <a:ln w="12700">
            <a:solidFill>
              <a:srgbClr val="FEF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94944" cy="6949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16736" y="1170432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127248" y="1042416"/>
            <a:ext cx="36576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76272"/>
            <a:ext cx="8595360" cy="1170432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762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77440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77440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16736" y="2432304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Learnings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127248" y="2304288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38144"/>
            <a:ext cx="8595360" cy="1170432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438144"/>
            <a:ext cx="91440" cy="1170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639312"/>
            <a:ext cx="694944" cy="69494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39312"/>
            <a:ext cx="694944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16736" y="3694176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3127248" y="3566160"/>
            <a:ext cx="36576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EarthSafe  ·  STAT 418  ·  Yutong Ma  ·  UCLA Spring 2026</a:t>
            </a:r>
            <a:endParaRPr lang="en-US" sz="1100" dirty="0"/>
          </a:p>
        </p:txBody>
      </p:sp>
      <p:sp>
        <p:nvSpPr>
          <p:cNvPr id="50" name="TextContent 50"/>
          <p:cNvSpPr/>
          <p:nvPr/>
        </p:nvSpPr>
        <p:spPr>
          <a:xfrm>
            <a:off x="3364992" y="1024400"/>
            <a:ext cx="5595168" cy="95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Class Imbalance  —  7 High records out of 2,000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Port 5000 → 5001  —  macOS AirPlay conflict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brew install libomp  —  XGBoost on Mac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</p:txBody>
      </p:sp>
      <p:sp>
        <p:nvSpPr>
          <p:cNvPr id="51" name="TextContent 51"/>
          <p:cNvSpPr/>
          <p:nvPr/>
        </p:nvSpPr>
        <p:spPr>
          <a:xfrm>
            <a:off x="3364992" y="2286272"/>
            <a:ext cx="5595168" cy="95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End-to-End MLOps  —  data → model → API → cloud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Macro F1 &gt; Accuracy  —  right metric for imbalanced classes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Claude AI  —  code, debug &amp; deploy at every layer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</p:txBody>
      </p:sp>
      <p:sp>
        <p:nvSpPr>
          <p:cNvPr id="52" name="TextContent 52"/>
          <p:cNvSpPr/>
          <p:nvPr/>
        </p:nvSpPr>
        <p:spPr>
          <a:xfrm>
            <a:off x="3364992" y="3548144"/>
            <a:ext cx="5595168" cy="95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Temporal Features  —  aftershock sequences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USGS WebSocket  —  sub-second map updates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</a:rPr>
              <a:t>Magnitude Regression  —  early warning potential</a:t>
            </a:r>
            <a:endParaRPr lang="en-US" sz="1300" dirty="0">
              <a:solidFill>
                <a:srgbClr val="2C3E5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2953</Words>
  <Application>WPS 演示</Application>
  <PresentationFormat>On-screen Show (16:9)</PresentationFormat>
  <Paragraphs>219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宋体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Arial</vt:lpstr>
      <vt:lpstr>Courier New</vt:lpstr>
      <vt:lpstr>Courier New</vt:lpstr>
      <vt:lpstr>Courier New</vt:lpstr>
      <vt:lpstr>Apple Color Emoji</vt:lpstr>
      <vt:lpstr>汉仪书宋二KW</vt:lpstr>
      <vt:lpstr>微软雅黑</vt:lpstr>
      <vt:lpstr>汉仪旗黑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EarthSafe — STAT 418 Final Presentation</dc:title>
  <dc:creator>Yutong Ma</dc:creator>
  <dc:subject>PptxGenJS Presentation</dc:subject>
  <cp:lastModifiedBy>biu biu</cp:lastModifiedBy>
  <cp:revision>4</cp:revision>
  <dcterms:created xsi:type="dcterms:W3CDTF">2026-06-02T03:45:02Z</dcterms:created>
  <dcterms:modified xsi:type="dcterms:W3CDTF">2026-06-02T03:45:02Z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AE6A3382F7DB3F1DA382166A31444AD2_42</vt:lpwstr>
  </property>
  <property fmtid="{D5CDD505-2E9C-101B-9397-08002B2CF9AE}" pid="3" name="KSOProductBuildVer">
    <vt:lpwstr>2052-12.1.22553.22553</vt:lpwstr>
  </property>
</Properties>
</file>